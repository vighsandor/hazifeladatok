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DÖNTÉS-ELŐKÉSZÍTŐ  ·  VEZETŐI KÖR  ·  5 PERC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Ügyfélszolgálati e-aláírás asszisztens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forrásmegjelölt választ adok az ügyfelek elektronikus aláírás kérdéseire — bizonytalanság esetén emberhez irányítva.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Működő PoC. </a:t>
            </a:r>
            <a:pPr algn="l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nem technológiáról döntünk, hanem egy 4 hetes pilotról.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A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~270 000 Ft/hó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5532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megtakarítás (alsó becslés)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43400" y="4892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A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~2,4 hó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343400" y="5532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megtérülés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0" y="4892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A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46720" y="5532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elérhetőség, forrásmegjelöléssel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 →  az asszisztensemmel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498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ASSZISZTENSSEL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Átfutás egy kérdésre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840480" y="1783080"/>
            <a:ext cx="356616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31920" y="1783080"/>
            <a:ext cx="3383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perc ügyintézői munka, munkaidőben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0" y="1783080"/>
            <a:ext cx="3657600" cy="640080"/>
          </a:xfrm>
          <a:prstGeom prst="roundRect">
            <a:avLst>
              <a:gd name="adj" fmla="val 12857"/>
            </a:avLst>
          </a:prstGeom>
          <a:solidFill>
            <a:srgbClr val="E8F4F2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0" y="1783080"/>
            <a:ext cx="34747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 s átlag / 12,8 s p90, 24/7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5328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Ismétlődő kérdések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40480" y="2532888"/>
            <a:ext cx="356616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31920" y="2532888"/>
            <a:ext cx="3383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support-óra/hó a rutinra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98080" y="2532888"/>
            <a:ext cx="3657600" cy="640080"/>
          </a:xfrm>
          <a:prstGeom prst="roundRect">
            <a:avLst>
              <a:gd name="adj" fmla="val 12857"/>
            </a:avLst>
          </a:prstGeom>
          <a:solidFill>
            <a:srgbClr val="E8F4F2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89520" y="2532888"/>
            <a:ext cx="34747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 óra a deflektált részre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28269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Konzisztencia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40480" y="3282696"/>
            <a:ext cx="356616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31920" y="3282696"/>
            <a:ext cx="3383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ügyintézőnként eltérő, forrás nélkül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498080" y="3282696"/>
            <a:ext cx="3657600" cy="640080"/>
          </a:xfrm>
          <a:prstGeom prst="roundRect">
            <a:avLst>
              <a:gd name="adj" fmla="val 12857"/>
            </a:avLst>
          </a:prstGeom>
          <a:solidFill>
            <a:srgbClr val="E8F4F2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589520" y="3282696"/>
            <a:ext cx="34747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4,87 ETSI hivatkozás/válasz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297680"/>
            <a:ext cx="310896" cy="310896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976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429768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Megoldom:  </a:t>
            </a:r>
            <a:pPr algn="l" indent="0" marL="0">
              <a:buNone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válaszidő · #2 önkiszolgálás · #9 konzisztencia · #3 onboarding (részben)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4864608"/>
            <a:ext cx="310896" cy="310896"/>
          </a:xfrm>
          <a:prstGeom prst="ellipse">
            <a:avLst/>
          </a:prstGeom>
          <a:solidFill>
            <a:srgbClr val="B06E1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864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4864608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oldom meg:  </a:t>
            </a:r>
            <a:pPr algn="l" indent="0" marL="0">
              <a:buNone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ügystátusz · #5 személyre szabás · #6 panasztanulás · #7 papírmunka · #8 sürgősségi sor · #10 lemorzsolódás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51560" y="5321808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Ezekhez ügyfél-, tranzakció- vagy viselkedési adat kellene, ami a PoC hatókörén kívül esik — és ezt kimondom.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PoC — mit csinál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ügyfél kérdez a /support oldalon. A rendszerem a 20 ETSI szabványból épült tudásbázisában keres, és csak abból válaszol — minden állítás mellé odateszi a konkrét klauzulát. Ha nincs elég erős alapja, nem találgat: emberhez irányít.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606040"/>
            <a:ext cx="365760" cy="365760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62432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Megválaszolt kérdés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„What are the PAdES baseline signature levels?”
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B-B / B-T / B-LT / B-LTA, </a:t>
            </a:r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forrással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kattintható ETSI-hivatkozásokkal.  </a:t>
            </a:r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 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233172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BF3E7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606040"/>
            <a:ext cx="365760" cy="365760"/>
          </a:xfrm>
          <a:prstGeom prst="ellipse">
            <a:avLst/>
          </a:prstGeom>
          <a:solidFill>
            <a:srgbClr val="B06E1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262432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Eszkaláció (emberi kapu)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310896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„How do I reset my billing portal password?”
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nincs válasz, hanem: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„…továbbítottam egy szakemberünknek, aki jelentkezni fog. (Hivatkozás: HO-…)”  </a:t>
            </a:r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 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7091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válaszidő ~9–13 s — lassabb egy szokásos chatnél.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a forrásmegjelölt, ellenőrizhető válasz ára: a rendszer megkeresi és megjelöli a szabványhelyet, ahol ellenőrizni lehet.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Adattérkép — hova kerül az ügyfél kérdése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62763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Kérdés begépelése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(/support)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31520" y="2359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NÁLAM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090672" y="187452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93008" y="146304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84448" y="162763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Keresés a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tudásbázisban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584448" y="2359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NÁLAM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45936" y="146304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37376" y="162763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Nyelvi feldolgozás,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válaszgenerálás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37376" y="2359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0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KÜLSŐ API · USA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96528" y="187452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98864" y="146304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90304" y="162763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Eszkalációs rekord,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interakciós napló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90304" y="2359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NÁLAM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20040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BF3E7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32004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fő adat-kilépési pont, kimondva:  </a:t>
            </a:r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kérdés szövege az USA-beli szolgáltatókhoz jut. A tudásbázis nyilvános ETSI szöveg; az ügyfél személyes azonosítóit nem küldöm ki.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4343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Mérséklés: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5740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AI-jelölés az oldalon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17804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„ne adj meg személyes adatot”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057400" y="4846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pPr algn="l" indent="0" marL="0">
              <a:buNone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PII-szűrő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178040" y="4846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pPr algn="l" indent="0" marL="0">
              <a:buNone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Zero-Data-Retention szerződés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✓ kész, a □ döntést / beszerzést igényel a pilot előtt.  Részletes térkép: docs/adatterkep.md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szám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8F4F2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716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72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 kérdés/hó  ×  30% ismétlődő  ×  10 perc  =  30 support-óra/hó  ≈  270 000 Ft/hó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alsó becslés — négy ökölszámon áll, felülírható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4460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743200"/>
            <a:ext cx="22631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~270 000 Ft/hó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31520" y="3401568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megtakarítás (alsó)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1860" y="2514600"/>
            <a:ext cx="24460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43300" y="2743200"/>
            <a:ext cx="22631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~23 000 Ft/hó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3543300" y="3401568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folyó költség (felső)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514600"/>
            <a:ext cx="24460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2743200"/>
            <a:ext cx="22631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600 000 Ft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355080" y="3401568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egyszeri (felső)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75420" y="2514600"/>
            <a:ext cx="24460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66860" y="2743200"/>
            <a:ext cx="22631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72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~2,4 hó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9166860" y="3401568"/>
            <a:ext cx="2263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megtérülés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4160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négy ökölszám: </a:t>
            </a:r>
            <a:pPr algn="l"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kérdés/hó · 30% ismétlődő · 10 perc/kérdés · 9 000 Ft/óra — felülírhatók.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Érzékenység: ha a kérdésszám vagy az ismétlődő arány feleződik, a megtakarítás is feleződik, a költségoldal viszont alig változik. A döntés ezen a négy számon áll, nem a technológián.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LLM-költség 600 kérdésre ≈ 3 000 Ft/hó (mért $0,013/kérdés) — a megtakarításhoz képest elenyésző.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057400" y="1600200"/>
            <a:ext cx="548640" cy="548640"/>
          </a:xfrm>
          <a:prstGeom prst="ellipse">
            <a:avLst/>
          </a:prstGeom>
          <a:solidFill>
            <a:srgbClr val="0B7285"/>
          </a:solidFill>
          <a:ln/>
        </p:spPr>
      </p:sp>
      <p:sp>
        <p:nvSpPr>
          <p:cNvPr id="4" name="Text 2"/>
          <p:cNvSpPr/>
          <p:nvPr/>
        </p:nvSpPr>
        <p:spPr>
          <a:xfrm>
            <a:off x="20574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3832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1–4. hét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20 ügyféllel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élesben, mért forgalommal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77640" y="2971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989320" y="1600200"/>
            <a:ext cx="548640" cy="548640"/>
          </a:xfrm>
          <a:prstGeom prst="ellipse">
            <a:avLst/>
          </a:prstGeom>
          <a:solidFill>
            <a:srgbClr val="B06E12"/>
          </a:solidFill>
          <a:ln/>
        </p:spPr>
      </p:sp>
      <p:sp>
        <p:nvSpPr>
          <p:cNvPr id="11" name="Text 9"/>
          <p:cNvSpPr/>
          <p:nvPr/>
        </p:nvSpPr>
        <p:spPr>
          <a:xfrm>
            <a:off x="59893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0" y="2377440"/>
            <a:ext cx="33832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091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hét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/ no-go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54880" y="3429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mért adatai alapján (npm run report): deflektált arány, válaszidő, eszkaláció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909560" y="2971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921240" y="1600200"/>
            <a:ext cx="548640" cy="548640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6"/>
          <p:cNvSpPr/>
          <p:nvPr/>
        </p:nvSpPr>
        <p:spPr>
          <a:xfrm>
            <a:off x="992124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503920" y="2377440"/>
            <a:ext cx="33832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4108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héttől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4108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Teljes bevezetés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86800" y="3429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vagy leállítás, ha a számok nem jönnek ki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9204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E8F4F2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dátum: </a:t>
            </a:r>
            <a:pPr algn="l" indent="0" marL="0">
              <a:buNone/>
            </a:pPr>
            <a:r>
              <a:rPr lang="en-US" sz="14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október 2.    </a:t>
            </a:r>
            <a:pPr algn="l" indent="0" marL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Gazda a go-live után: </a:t>
            </a:r>
            <a:pPr algn="l" indent="0" marL="0">
              <a:buNone/>
            </a:pPr>
            <a:r>
              <a:rPr lang="en-US" sz="14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ügyfélszolgálati folyamatgazda, heti riporttal.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döntést nem most kérem véglegesen — a 4. héten, valós számok alapján hozzuk meg.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Mérési terv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EAF5E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373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Fájdalom-metrika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Javult-e az ügyfélszolgálat helyzete?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Deflektált arány (válaszolt / összes) és válaszidő (átlag + p90).
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Forrás: interakciós napló · heti · folyamatgazda.
</a:t>
            </a:r>
            <a:pPr algn="l"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is mérhető, a naplózás él.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FBF3E7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737360"/>
            <a:ext cx="384048" cy="384048"/>
          </a:xfrm>
          <a:prstGeom prst="ellipse">
            <a:avLst/>
          </a:prstGeom>
          <a:solidFill>
            <a:srgbClr val="B06E1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0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Hiba-metrika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 téved vagy hol nem elég az asszisztensem?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37960" y="26517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Eszkalációs arány (a korlát) + téves válaszok aránya szakértői mintaellenőrzésből (a hiba).
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 · szponzornak és compliance-nek.
</a:t>
            </a:r>
            <a:pPr algn="l"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B0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mintaellenőrzés új folyamat — a pilottal kell elindítani.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297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kettő nem ugyanaz:  </a:t>
            </a:r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magas eszkaláció önmagában nem rossz hír — azt jelenti, hogy a rendszerem felismerte a korlátját. A téves válasz mindig rossz hír.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Részletes terv: docs/meresi-terv.md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kérek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103A5E"/>
          </a:solidFill>
          <a:ln/>
          <a:effectLst>
            <a:outerShdw sx="100000" sy="100000" kx="0" ky="0" algn="bl" rotWithShape="0" blurRad="101600" dist="25400" dir="5400000">
              <a:srgbClr val="8494A5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716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2A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döntés: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indulhat-e a 4 hetes pilot 20 ügyféllel?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Keret: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400 000 Ft-ig (felső becslés)      </a:t>
            </a:r>
            <a:pPr algn="l" indent="0" marL="0">
              <a:buNone/>
            </a:pPr>
            <a:r>
              <a:rPr lang="en-US" sz="1500" b="1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Go/no-go: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október 2., mért adatok alapján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Kockázat és visszavehetőség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30752"/>
            <a:ext cx="146304" cy="146304"/>
          </a:xfrm>
          <a:prstGeom prst="ellipse">
            <a:avLst/>
          </a:prstGeom>
          <a:solidFill>
            <a:srgbClr val="12A594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703320"/>
            <a:ext cx="10561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Emberi kapu — bizonytalanságnál a rendszerem eszkalál, nem találgatok (beépítve, demózva).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4334256"/>
            <a:ext cx="146304" cy="146304"/>
          </a:xfrm>
          <a:prstGeom prst="ellipse">
            <a:avLst/>
          </a:prstGeom>
          <a:solidFill>
            <a:srgbClr val="12A594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4306824"/>
            <a:ext cx="10561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AI-jelölés és adatvédelmi figyelmeztetés az oldalon; minden interakció naplózva, auditálható.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146304" cy="146304"/>
          </a:xfrm>
          <a:prstGeom prst="ellipse">
            <a:avLst/>
          </a:prstGeom>
          <a:solidFill>
            <a:srgbClr val="12A594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910328"/>
            <a:ext cx="10561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Rollback: a /support bejáratot percek alatt kikapcsolom — az ügyfél a mai csatornára esik vissza, adatvesztés nincs, a belső eszköz érintetlen.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541264"/>
            <a:ext cx="146304" cy="146304"/>
          </a:xfrm>
          <a:prstGeom prst="ellipse">
            <a:avLst/>
          </a:prstGeom>
          <a:solidFill>
            <a:srgbClr val="12A594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513832"/>
            <a:ext cx="10561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fő kockázat — a kérdés szövege külföldre kerül — a mérséklésekkel kezelt; a PII-szűrőről és a ZDR-szerződésről külön döntést kérek.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zaroprojekt</dc:creator>
  <cp:lastModifiedBy>zaroprojekt</cp:lastModifiedBy>
  <cp:revision>1</cp:revision>
  <dcterms:created xsi:type="dcterms:W3CDTF">2026-08-17T14:35:52Z</dcterms:created>
  <dcterms:modified xsi:type="dcterms:W3CDTF">2026-08-17T14:35:52Z</dcterms:modified>
</cp:coreProperties>
</file>